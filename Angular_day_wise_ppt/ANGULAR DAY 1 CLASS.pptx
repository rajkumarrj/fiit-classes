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8" r:id="rId4"/>
    <p:sldId id="270" r:id="rId5"/>
    <p:sldId id="259" r:id="rId6"/>
    <p:sldId id="265" r:id="rId7"/>
    <p:sldId id="267"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0DC018-AC4D-496E-9A4C-D7E9A068DEF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CDC8416B-519A-4341-8B46-E26D975A1152}">
      <dgm:prSet/>
      <dgm:spPr/>
      <dgm:t>
        <a:bodyPr/>
        <a:lstStyle/>
        <a:p>
          <a:r>
            <a:rPr lang="en-US" baseline="0"/>
            <a:t>1. What are Client-Side Frameworks?</a:t>
          </a:r>
          <a:endParaRPr lang="en-IN"/>
        </a:p>
      </dgm:t>
    </dgm:pt>
    <dgm:pt modelId="{2BC31F0C-7068-4565-BCB5-5369EE5B2D28}" type="parTrans" cxnId="{3A2074FD-3BA1-47DB-AC97-92BD184F5576}">
      <dgm:prSet/>
      <dgm:spPr/>
      <dgm:t>
        <a:bodyPr/>
        <a:lstStyle/>
        <a:p>
          <a:endParaRPr lang="en-IN"/>
        </a:p>
      </dgm:t>
    </dgm:pt>
    <dgm:pt modelId="{EBFB63C2-478B-4CD4-8B26-857F7F315C24}" type="sibTrans" cxnId="{3A2074FD-3BA1-47DB-AC97-92BD184F5576}">
      <dgm:prSet/>
      <dgm:spPr/>
      <dgm:t>
        <a:bodyPr/>
        <a:lstStyle/>
        <a:p>
          <a:endParaRPr lang="en-IN"/>
        </a:p>
      </dgm:t>
    </dgm:pt>
    <dgm:pt modelId="{1C822634-F571-4402-95C1-5474ABD567AE}" type="pres">
      <dgm:prSet presAssocID="{320DC018-AC4D-496E-9A4C-D7E9A068DEF5}" presName="linear" presStyleCnt="0">
        <dgm:presLayoutVars>
          <dgm:animLvl val="lvl"/>
          <dgm:resizeHandles val="exact"/>
        </dgm:presLayoutVars>
      </dgm:prSet>
      <dgm:spPr/>
    </dgm:pt>
    <dgm:pt modelId="{196182DB-902D-46B6-B439-A6B20F0E8B01}" type="pres">
      <dgm:prSet presAssocID="{CDC8416B-519A-4341-8B46-E26D975A1152}" presName="parentText" presStyleLbl="node1" presStyleIdx="0" presStyleCnt="1">
        <dgm:presLayoutVars>
          <dgm:chMax val="0"/>
          <dgm:bulletEnabled val="1"/>
        </dgm:presLayoutVars>
      </dgm:prSet>
      <dgm:spPr/>
    </dgm:pt>
  </dgm:ptLst>
  <dgm:cxnLst>
    <dgm:cxn modelId="{7A5863B8-50B6-40BF-9ED8-9F92AFDABEBA}" type="presOf" srcId="{CDC8416B-519A-4341-8B46-E26D975A1152}" destId="{196182DB-902D-46B6-B439-A6B20F0E8B01}" srcOrd="0" destOrd="0" presId="urn:microsoft.com/office/officeart/2005/8/layout/vList2"/>
    <dgm:cxn modelId="{40EABEFB-8B89-487D-82C9-A8E09CFC09EC}" type="presOf" srcId="{320DC018-AC4D-496E-9A4C-D7E9A068DEF5}" destId="{1C822634-F571-4402-95C1-5474ABD567AE}" srcOrd="0" destOrd="0" presId="urn:microsoft.com/office/officeart/2005/8/layout/vList2"/>
    <dgm:cxn modelId="{3A2074FD-3BA1-47DB-AC97-92BD184F5576}" srcId="{320DC018-AC4D-496E-9A4C-D7E9A068DEF5}" destId="{CDC8416B-519A-4341-8B46-E26D975A1152}" srcOrd="0" destOrd="0" parTransId="{2BC31F0C-7068-4565-BCB5-5369EE5B2D28}" sibTransId="{EBFB63C2-478B-4CD4-8B26-857F7F315C24}"/>
    <dgm:cxn modelId="{D0D7BEDE-807B-4F52-8123-9E913FCC468A}" type="presParOf" srcId="{1C822634-F571-4402-95C1-5474ABD567AE}" destId="{196182DB-902D-46B6-B439-A6B20F0E8B0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0836AF-501C-4575-8DB6-4C5BFEA1C08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A926EB07-4F20-4E34-8311-02749579FC12}">
      <dgm:prSet/>
      <dgm:spPr/>
      <dgm:t>
        <a:bodyPr/>
        <a:lstStyle/>
        <a:p>
          <a:r>
            <a:rPr lang="en-US" baseline="0" dirty="0"/>
            <a:t>2. Popular Client-Side Frameworks &amp; Libraries</a:t>
          </a:r>
          <a:endParaRPr lang="en-IN" dirty="0"/>
        </a:p>
      </dgm:t>
    </dgm:pt>
    <dgm:pt modelId="{2E9F4C5B-2765-4B0F-9BAE-6C60B9B3AF37}" type="parTrans" cxnId="{0C4F560A-D591-4BE8-B59A-DF0EC2AA0208}">
      <dgm:prSet/>
      <dgm:spPr/>
      <dgm:t>
        <a:bodyPr/>
        <a:lstStyle/>
        <a:p>
          <a:endParaRPr lang="en-IN"/>
        </a:p>
      </dgm:t>
    </dgm:pt>
    <dgm:pt modelId="{4537CFBF-26DF-4F5B-88D3-E036BD1C3922}" type="sibTrans" cxnId="{0C4F560A-D591-4BE8-B59A-DF0EC2AA0208}">
      <dgm:prSet/>
      <dgm:spPr/>
      <dgm:t>
        <a:bodyPr/>
        <a:lstStyle/>
        <a:p>
          <a:endParaRPr lang="en-IN"/>
        </a:p>
      </dgm:t>
    </dgm:pt>
    <dgm:pt modelId="{33E6EE49-F8CE-486B-9C7D-7C5481A09FFA}" type="pres">
      <dgm:prSet presAssocID="{F60836AF-501C-4575-8DB6-4C5BFEA1C084}" presName="linear" presStyleCnt="0">
        <dgm:presLayoutVars>
          <dgm:animLvl val="lvl"/>
          <dgm:resizeHandles val="exact"/>
        </dgm:presLayoutVars>
      </dgm:prSet>
      <dgm:spPr/>
    </dgm:pt>
    <dgm:pt modelId="{F89FF456-B892-4741-B4B9-33905C315802}" type="pres">
      <dgm:prSet presAssocID="{A926EB07-4F20-4E34-8311-02749579FC12}" presName="parentText" presStyleLbl="node1" presStyleIdx="0" presStyleCnt="1">
        <dgm:presLayoutVars>
          <dgm:chMax val="0"/>
          <dgm:bulletEnabled val="1"/>
        </dgm:presLayoutVars>
      </dgm:prSet>
      <dgm:spPr/>
    </dgm:pt>
  </dgm:ptLst>
  <dgm:cxnLst>
    <dgm:cxn modelId="{0C4F560A-D591-4BE8-B59A-DF0EC2AA0208}" srcId="{F60836AF-501C-4575-8DB6-4C5BFEA1C084}" destId="{A926EB07-4F20-4E34-8311-02749579FC12}" srcOrd="0" destOrd="0" parTransId="{2E9F4C5B-2765-4B0F-9BAE-6C60B9B3AF37}" sibTransId="{4537CFBF-26DF-4F5B-88D3-E036BD1C3922}"/>
    <dgm:cxn modelId="{D11DCC2E-A6CB-45E6-8681-56334502564D}" type="presOf" srcId="{F60836AF-501C-4575-8DB6-4C5BFEA1C084}" destId="{33E6EE49-F8CE-486B-9C7D-7C5481A09FFA}" srcOrd="0" destOrd="0" presId="urn:microsoft.com/office/officeart/2005/8/layout/vList2"/>
    <dgm:cxn modelId="{2531A0ED-7BBA-449A-85DD-756ED9AB5232}" type="presOf" srcId="{A926EB07-4F20-4E34-8311-02749579FC12}" destId="{F89FF456-B892-4741-B4B9-33905C315802}" srcOrd="0" destOrd="0" presId="urn:microsoft.com/office/officeart/2005/8/layout/vList2"/>
    <dgm:cxn modelId="{F6B94A67-0828-4B06-8458-72E57BA73F28}" type="presParOf" srcId="{33E6EE49-F8CE-486B-9C7D-7C5481A09FFA}" destId="{F89FF456-B892-4741-B4B9-33905C31580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986ABE1-D269-4820-B55F-DB16437801B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E2997A0D-B9E0-42FA-8295-91CCDB26DA39}">
      <dgm:prSet/>
      <dgm:spPr/>
      <dgm:t>
        <a:bodyPr/>
        <a:lstStyle/>
        <a:p>
          <a:r>
            <a:rPr lang="en-US" baseline="0"/>
            <a:t>2. Popular Client-Side Frameworks &amp; Libraries</a:t>
          </a:r>
          <a:endParaRPr lang="en-IN"/>
        </a:p>
      </dgm:t>
    </dgm:pt>
    <dgm:pt modelId="{177A73B1-6AE1-46F8-8500-BA23CAC03B78}" type="parTrans" cxnId="{12C7E1E3-BF9A-4A5F-B057-97661427537F}">
      <dgm:prSet/>
      <dgm:spPr/>
      <dgm:t>
        <a:bodyPr/>
        <a:lstStyle/>
        <a:p>
          <a:endParaRPr lang="en-IN"/>
        </a:p>
      </dgm:t>
    </dgm:pt>
    <dgm:pt modelId="{E043AA3A-4C72-4A8D-94E3-F8F9FBBB782F}" type="sibTrans" cxnId="{12C7E1E3-BF9A-4A5F-B057-97661427537F}">
      <dgm:prSet/>
      <dgm:spPr/>
      <dgm:t>
        <a:bodyPr/>
        <a:lstStyle/>
        <a:p>
          <a:endParaRPr lang="en-IN"/>
        </a:p>
      </dgm:t>
    </dgm:pt>
    <dgm:pt modelId="{157B0E1F-A533-46D8-801C-34173D8B0B3E}" type="pres">
      <dgm:prSet presAssocID="{2986ABE1-D269-4820-B55F-DB16437801B1}" presName="linear" presStyleCnt="0">
        <dgm:presLayoutVars>
          <dgm:animLvl val="lvl"/>
          <dgm:resizeHandles val="exact"/>
        </dgm:presLayoutVars>
      </dgm:prSet>
      <dgm:spPr/>
    </dgm:pt>
    <dgm:pt modelId="{3F97EE95-FCA8-4142-B0CA-3DD01E92685C}" type="pres">
      <dgm:prSet presAssocID="{E2997A0D-B9E0-42FA-8295-91CCDB26DA39}" presName="parentText" presStyleLbl="node1" presStyleIdx="0" presStyleCnt="1" custLinFactNeighborY="-10738">
        <dgm:presLayoutVars>
          <dgm:chMax val="0"/>
          <dgm:bulletEnabled val="1"/>
        </dgm:presLayoutVars>
      </dgm:prSet>
      <dgm:spPr/>
    </dgm:pt>
  </dgm:ptLst>
  <dgm:cxnLst>
    <dgm:cxn modelId="{E6AB2638-F5D8-47E1-9B32-CF89829A55FC}" type="presOf" srcId="{2986ABE1-D269-4820-B55F-DB16437801B1}" destId="{157B0E1F-A533-46D8-801C-34173D8B0B3E}" srcOrd="0" destOrd="0" presId="urn:microsoft.com/office/officeart/2005/8/layout/vList2"/>
    <dgm:cxn modelId="{C4C929A9-15B0-4CF9-B80A-2A326AF425C0}" type="presOf" srcId="{E2997A0D-B9E0-42FA-8295-91CCDB26DA39}" destId="{3F97EE95-FCA8-4142-B0CA-3DD01E92685C}" srcOrd="0" destOrd="0" presId="urn:microsoft.com/office/officeart/2005/8/layout/vList2"/>
    <dgm:cxn modelId="{12C7E1E3-BF9A-4A5F-B057-97661427537F}" srcId="{2986ABE1-D269-4820-B55F-DB16437801B1}" destId="{E2997A0D-B9E0-42FA-8295-91CCDB26DA39}" srcOrd="0" destOrd="0" parTransId="{177A73B1-6AE1-46F8-8500-BA23CAC03B78}" sibTransId="{E043AA3A-4C72-4A8D-94E3-F8F9FBBB782F}"/>
    <dgm:cxn modelId="{64222A87-E051-48FA-B7CA-FFD4B50E2522}" type="presParOf" srcId="{157B0E1F-A533-46D8-801C-34173D8B0B3E}" destId="{3F97EE95-FCA8-4142-B0CA-3DD01E92685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490DBED-E97D-4C79-894A-346CB69CE0F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F0B850F6-3E55-4353-A532-FAA9E9734F9E}">
      <dgm:prSet/>
      <dgm:spPr/>
      <dgm:t>
        <a:bodyPr/>
        <a:lstStyle/>
        <a:p>
          <a:r>
            <a:rPr lang="en-US" b="1" baseline="0"/>
            <a:t>3. Comparison of Client-Side Frameworks</a:t>
          </a:r>
          <a:endParaRPr lang="en-IN"/>
        </a:p>
      </dgm:t>
    </dgm:pt>
    <dgm:pt modelId="{73BA1612-F0F5-428E-A755-8AB8EECAF8EC}" type="parTrans" cxnId="{C5F1D81E-3CD6-48F7-BB5B-9F7BA6A57C93}">
      <dgm:prSet/>
      <dgm:spPr/>
      <dgm:t>
        <a:bodyPr/>
        <a:lstStyle/>
        <a:p>
          <a:endParaRPr lang="en-IN"/>
        </a:p>
      </dgm:t>
    </dgm:pt>
    <dgm:pt modelId="{73E1BC14-15ED-432D-B906-1DDFFB1B57BB}" type="sibTrans" cxnId="{C5F1D81E-3CD6-48F7-BB5B-9F7BA6A57C93}">
      <dgm:prSet/>
      <dgm:spPr/>
      <dgm:t>
        <a:bodyPr/>
        <a:lstStyle/>
        <a:p>
          <a:endParaRPr lang="en-IN"/>
        </a:p>
      </dgm:t>
    </dgm:pt>
    <dgm:pt modelId="{F21D7815-C578-46A2-B565-218C43BC71D4}" type="pres">
      <dgm:prSet presAssocID="{7490DBED-E97D-4C79-894A-346CB69CE0FE}" presName="linear" presStyleCnt="0">
        <dgm:presLayoutVars>
          <dgm:animLvl val="lvl"/>
          <dgm:resizeHandles val="exact"/>
        </dgm:presLayoutVars>
      </dgm:prSet>
      <dgm:spPr/>
    </dgm:pt>
    <dgm:pt modelId="{DE91D959-A017-4751-8F6E-14F8A46E6CD3}" type="pres">
      <dgm:prSet presAssocID="{F0B850F6-3E55-4353-A532-FAA9E9734F9E}" presName="parentText" presStyleLbl="node1" presStyleIdx="0" presStyleCnt="1">
        <dgm:presLayoutVars>
          <dgm:chMax val="0"/>
          <dgm:bulletEnabled val="1"/>
        </dgm:presLayoutVars>
      </dgm:prSet>
      <dgm:spPr/>
    </dgm:pt>
  </dgm:ptLst>
  <dgm:cxnLst>
    <dgm:cxn modelId="{C5F1D81E-3CD6-48F7-BB5B-9F7BA6A57C93}" srcId="{7490DBED-E97D-4C79-894A-346CB69CE0FE}" destId="{F0B850F6-3E55-4353-A532-FAA9E9734F9E}" srcOrd="0" destOrd="0" parTransId="{73BA1612-F0F5-428E-A755-8AB8EECAF8EC}" sibTransId="{73E1BC14-15ED-432D-B906-1DDFFB1B57BB}"/>
    <dgm:cxn modelId="{6C675C2D-DA3D-4ADD-848F-395AE6552CCA}" type="presOf" srcId="{F0B850F6-3E55-4353-A532-FAA9E9734F9E}" destId="{DE91D959-A017-4751-8F6E-14F8A46E6CD3}" srcOrd="0" destOrd="0" presId="urn:microsoft.com/office/officeart/2005/8/layout/vList2"/>
    <dgm:cxn modelId="{1A9C0898-F2A2-4A08-986C-02FB3B55FF42}" type="presOf" srcId="{7490DBED-E97D-4C79-894A-346CB69CE0FE}" destId="{F21D7815-C578-46A2-B565-218C43BC71D4}" srcOrd="0" destOrd="0" presId="urn:microsoft.com/office/officeart/2005/8/layout/vList2"/>
    <dgm:cxn modelId="{EC97E2E1-8232-4052-A8C7-8D25DF880293}" type="presParOf" srcId="{F21D7815-C578-46A2-B565-218C43BC71D4}" destId="{DE91D959-A017-4751-8F6E-14F8A46E6CD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DA41565-1360-4CE2-8874-A1E403DECFD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F1F284BE-1D81-4C01-A4B7-81231F44A83F}">
      <dgm:prSet/>
      <dgm:spPr/>
      <dgm:t>
        <a:bodyPr/>
        <a:lstStyle/>
        <a:p>
          <a:pPr algn="ctr"/>
          <a:r>
            <a:rPr lang="en-US" b="1" baseline="0" dirty="0"/>
            <a:t> 4. Real-World Applications  of Angular</a:t>
          </a:r>
          <a:endParaRPr lang="en-IN" dirty="0"/>
        </a:p>
      </dgm:t>
    </dgm:pt>
    <dgm:pt modelId="{1F4BE33F-CA27-4B3F-9889-A64C8A595F50}" type="parTrans" cxnId="{E1EC3DE6-DF82-4B1E-BABE-1F4DD3C13E17}">
      <dgm:prSet/>
      <dgm:spPr/>
      <dgm:t>
        <a:bodyPr/>
        <a:lstStyle/>
        <a:p>
          <a:endParaRPr lang="en-IN"/>
        </a:p>
      </dgm:t>
    </dgm:pt>
    <dgm:pt modelId="{8EC71D4F-A3B5-4BA9-A72F-628B4F70942A}" type="sibTrans" cxnId="{E1EC3DE6-DF82-4B1E-BABE-1F4DD3C13E17}">
      <dgm:prSet/>
      <dgm:spPr/>
      <dgm:t>
        <a:bodyPr/>
        <a:lstStyle/>
        <a:p>
          <a:endParaRPr lang="en-IN"/>
        </a:p>
      </dgm:t>
    </dgm:pt>
    <dgm:pt modelId="{52A83608-B47C-49BE-896B-A29F84DD3BEF}" type="pres">
      <dgm:prSet presAssocID="{6DA41565-1360-4CE2-8874-A1E403DECFD2}" presName="linear" presStyleCnt="0">
        <dgm:presLayoutVars>
          <dgm:animLvl val="lvl"/>
          <dgm:resizeHandles val="exact"/>
        </dgm:presLayoutVars>
      </dgm:prSet>
      <dgm:spPr/>
    </dgm:pt>
    <dgm:pt modelId="{6D75D77B-DDFE-4A5A-A786-583EB4F8931B}" type="pres">
      <dgm:prSet presAssocID="{F1F284BE-1D81-4C01-A4B7-81231F44A83F}" presName="parentText" presStyleLbl="node1" presStyleIdx="0" presStyleCnt="1">
        <dgm:presLayoutVars>
          <dgm:chMax val="0"/>
          <dgm:bulletEnabled val="1"/>
        </dgm:presLayoutVars>
      </dgm:prSet>
      <dgm:spPr/>
    </dgm:pt>
  </dgm:ptLst>
  <dgm:cxnLst>
    <dgm:cxn modelId="{542C1128-4C93-4796-85BF-BB07D197A45A}" type="presOf" srcId="{6DA41565-1360-4CE2-8874-A1E403DECFD2}" destId="{52A83608-B47C-49BE-896B-A29F84DD3BEF}" srcOrd="0" destOrd="0" presId="urn:microsoft.com/office/officeart/2005/8/layout/vList2"/>
    <dgm:cxn modelId="{3F23A59E-D3DB-4E1A-A7BF-CFFDA01E4D39}" type="presOf" srcId="{F1F284BE-1D81-4C01-A4B7-81231F44A83F}" destId="{6D75D77B-DDFE-4A5A-A786-583EB4F8931B}" srcOrd="0" destOrd="0" presId="urn:microsoft.com/office/officeart/2005/8/layout/vList2"/>
    <dgm:cxn modelId="{E1EC3DE6-DF82-4B1E-BABE-1F4DD3C13E17}" srcId="{6DA41565-1360-4CE2-8874-A1E403DECFD2}" destId="{F1F284BE-1D81-4C01-A4B7-81231F44A83F}" srcOrd="0" destOrd="0" parTransId="{1F4BE33F-CA27-4B3F-9889-A64C8A595F50}" sibTransId="{8EC71D4F-A3B5-4BA9-A72F-628B4F70942A}"/>
    <dgm:cxn modelId="{3230C75B-978F-43F3-8714-3DC2FA35D09F}" type="presParOf" srcId="{52A83608-B47C-49BE-896B-A29F84DD3BEF}" destId="{6D75D77B-DDFE-4A5A-A786-583EB4F8931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278D08D-36E7-41F8-81DB-BFEC528F14D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959DA856-A9E7-42E4-AB67-E5D3A4DEE7F0}">
      <dgm:prSet/>
      <dgm:spPr/>
      <dgm:t>
        <a:bodyPr/>
        <a:lstStyle/>
        <a:p>
          <a:r>
            <a:rPr lang="en-US" b="1" baseline="0" dirty="0"/>
            <a:t>5. Interview Questions and Answers</a:t>
          </a:r>
          <a:endParaRPr lang="en-IN" dirty="0"/>
        </a:p>
      </dgm:t>
    </dgm:pt>
    <dgm:pt modelId="{FFDD4153-4D06-40A9-9373-CCACBE21AC44}" type="parTrans" cxnId="{E27EB2F6-1876-4D3A-A504-D748E95644F5}">
      <dgm:prSet/>
      <dgm:spPr/>
      <dgm:t>
        <a:bodyPr/>
        <a:lstStyle/>
        <a:p>
          <a:endParaRPr lang="en-IN"/>
        </a:p>
      </dgm:t>
    </dgm:pt>
    <dgm:pt modelId="{1E28AEF2-C3F1-4637-BEB9-56DB062B4346}" type="sibTrans" cxnId="{E27EB2F6-1876-4D3A-A504-D748E95644F5}">
      <dgm:prSet/>
      <dgm:spPr/>
      <dgm:t>
        <a:bodyPr/>
        <a:lstStyle/>
        <a:p>
          <a:endParaRPr lang="en-IN"/>
        </a:p>
      </dgm:t>
    </dgm:pt>
    <dgm:pt modelId="{789BB776-5A7A-472A-9993-B970FC70DDD7}" type="pres">
      <dgm:prSet presAssocID="{E278D08D-36E7-41F8-81DB-BFEC528F14D6}" presName="linear" presStyleCnt="0">
        <dgm:presLayoutVars>
          <dgm:animLvl val="lvl"/>
          <dgm:resizeHandles val="exact"/>
        </dgm:presLayoutVars>
      </dgm:prSet>
      <dgm:spPr/>
    </dgm:pt>
    <dgm:pt modelId="{31F251E8-E28C-4088-A39B-614DFAEB9212}" type="pres">
      <dgm:prSet presAssocID="{959DA856-A9E7-42E4-AB67-E5D3A4DEE7F0}" presName="parentText" presStyleLbl="node1" presStyleIdx="0" presStyleCnt="1">
        <dgm:presLayoutVars>
          <dgm:chMax val="0"/>
          <dgm:bulletEnabled val="1"/>
        </dgm:presLayoutVars>
      </dgm:prSet>
      <dgm:spPr/>
    </dgm:pt>
  </dgm:ptLst>
  <dgm:cxnLst>
    <dgm:cxn modelId="{CD806A66-C024-4386-B194-16AFBDFE06E6}" type="presOf" srcId="{959DA856-A9E7-42E4-AB67-E5D3A4DEE7F0}" destId="{31F251E8-E28C-4088-A39B-614DFAEB9212}" srcOrd="0" destOrd="0" presId="urn:microsoft.com/office/officeart/2005/8/layout/vList2"/>
    <dgm:cxn modelId="{54AE39CD-7BE1-4A94-819D-971827DEC7EF}" type="presOf" srcId="{E278D08D-36E7-41F8-81DB-BFEC528F14D6}" destId="{789BB776-5A7A-472A-9993-B970FC70DDD7}" srcOrd="0" destOrd="0" presId="urn:microsoft.com/office/officeart/2005/8/layout/vList2"/>
    <dgm:cxn modelId="{E27EB2F6-1876-4D3A-A504-D748E95644F5}" srcId="{E278D08D-36E7-41F8-81DB-BFEC528F14D6}" destId="{959DA856-A9E7-42E4-AB67-E5D3A4DEE7F0}" srcOrd="0" destOrd="0" parTransId="{FFDD4153-4D06-40A9-9373-CCACBE21AC44}" sibTransId="{1E28AEF2-C3F1-4637-BEB9-56DB062B4346}"/>
    <dgm:cxn modelId="{F2A1D705-66BE-4D0C-9361-86AB1811BAA2}" type="presParOf" srcId="{789BB776-5A7A-472A-9993-B970FC70DDD7}" destId="{31F251E8-E28C-4088-A39B-614DFAEB921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8D9A600-6D8F-4AEC-A20E-30A6E330E75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765F53E6-8F00-47BA-8690-AF753BF89918}">
      <dgm:prSet/>
      <dgm:spPr/>
      <dgm:t>
        <a:bodyPr/>
        <a:lstStyle/>
        <a:p>
          <a:r>
            <a:rPr lang="en-IN" baseline="0"/>
            <a:t>Interview Questions and Answers</a:t>
          </a:r>
          <a:endParaRPr lang="en-IN"/>
        </a:p>
      </dgm:t>
    </dgm:pt>
    <dgm:pt modelId="{5DF6452F-D0F7-4C25-A587-A4FDB6388AE1}" type="parTrans" cxnId="{879157F9-4A95-4D27-A1E9-574485BC3CE1}">
      <dgm:prSet/>
      <dgm:spPr/>
      <dgm:t>
        <a:bodyPr/>
        <a:lstStyle/>
        <a:p>
          <a:endParaRPr lang="en-IN"/>
        </a:p>
      </dgm:t>
    </dgm:pt>
    <dgm:pt modelId="{D1659D25-D4C7-4CD1-A16B-EE371FC0E145}" type="sibTrans" cxnId="{879157F9-4A95-4D27-A1E9-574485BC3CE1}">
      <dgm:prSet/>
      <dgm:spPr/>
      <dgm:t>
        <a:bodyPr/>
        <a:lstStyle/>
        <a:p>
          <a:endParaRPr lang="en-IN"/>
        </a:p>
      </dgm:t>
    </dgm:pt>
    <dgm:pt modelId="{588C1D83-FFF3-4928-B4DE-D489364D84B8}" type="pres">
      <dgm:prSet presAssocID="{18D9A600-6D8F-4AEC-A20E-30A6E330E758}" presName="linear" presStyleCnt="0">
        <dgm:presLayoutVars>
          <dgm:animLvl val="lvl"/>
          <dgm:resizeHandles val="exact"/>
        </dgm:presLayoutVars>
      </dgm:prSet>
      <dgm:spPr/>
    </dgm:pt>
    <dgm:pt modelId="{9861E45E-AFAC-4A07-B5EA-ABFC7F27B083}" type="pres">
      <dgm:prSet presAssocID="{765F53E6-8F00-47BA-8690-AF753BF89918}" presName="parentText" presStyleLbl="node1" presStyleIdx="0" presStyleCnt="1">
        <dgm:presLayoutVars>
          <dgm:chMax val="0"/>
          <dgm:bulletEnabled val="1"/>
        </dgm:presLayoutVars>
      </dgm:prSet>
      <dgm:spPr/>
    </dgm:pt>
  </dgm:ptLst>
  <dgm:cxnLst>
    <dgm:cxn modelId="{43EF0B1C-C14D-4672-9909-F9A34268F2BD}" type="presOf" srcId="{18D9A600-6D8F-4AEC-A20E-30A6E330E758}" destId="{588C1D83-FFF3-4928-B4DE-D489364D84B8}" srcOrd="0" destOrd="0" presId="urn:microsoft.com/office/officeart/2005/8/layout/vList2"/>
    <dgm:cxn modelId="{F88EDC2D-C49D-4C5D-A278-231458FE2C70}" type="presOf" srcId="{765F53E6-8F00-47BA-8690-AF753BF89918}" destId="{9861E45E-AFAC-4A07-B5EA-ABFC7F27B083}" srcOrd="0" destOrd="0" presId="urn:microsoft.com/office/officeart/2005/8/layout/vList2"/>
    <dgm:cxn modelId="{879157F9-4A95-4D27-A1E9-574485BC3CE1}" srcId="{18D9A600-6D8F-4AEC-A20E-30A6E330E758}" destId="{765F53E6-8F00-47BA-8690-AF753BF89918}" srcOrd="0" destOrd="0" parTransId="{5DF6452F-D0F7-4C25-A587-A4FDB6388AE1}" sibTransId="{D1659D25-D4C7-4CD1-A16B-EE371FC0E145}"/>
    <dgm:cxn modelId="{AF8F9D50-AA1C-4498-A68C-488671C8AC4B}" type="presParOf" srcId="{588C1D83-FFF3-4928-B4DE-D489364D84B8}" destId="{9861E45E-AFAC-4A07-B5EA-ABFC7F27B08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6182DB-902D-46B6-B439-A6B20F0E8B01}">
      <dsp:nvSpPr>
        <dsp:cNvPr id="0" name=""/>
        <dsp:cNvSpPr/>
      </dsp:nvSpPr>
      <dsp:spPr>
        <a:xfrm>
          <a:off x="0" y="137746"/>
          <a:ext cx="10058399" cy="117526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US" sz="4900" kern="1200" baseline="0"/>
            <a:t>1. What are Client-Side Frameworks?</a:t>
          </a:r>
          <a:endParaRPr lang="en-IN" sz="4900" kern="1200"/>
        </a:p>
      </dsp:txBody>
      <dsp:txXfrm>
        <a:off x="57372" y="195118"/>
        <a:ext cx="9943655" cy="10605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9FF456-B892-4741-B4B9-33905C315802}">
      <dsp:nvSpPr>
        <dsp:cNvPr id="0" name=""/>
        <dsp:cNvSpPr/>
      </dsp:nvSpPr>
      <dsp:spPr>
        <a:xfrm>
          <a:off x="0" y="157413"/>
          <a:ext cx="10058399" cy="959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baseline="0" dirty="0"/>
            <a:t>2. Popular Client-Side Frameworks &amp; Libraries</a:t>
          </a:r>
          <a:endParaRPr lang="en-IN" sz="4000" kern="1200" dirty="0"/>
        </a:p>
      </dsp:txBody>
      <dsp:txXfrm>
        <a:off x="46834" y="204247"/>
        <a:ext cx="9964731" cy="8657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97EE95-FCA8-4142-B0CA-3DD01E92685C}">
      <dsp:nvSpPr>
        <dsp:cNvPr id="0" name=""/>
        <dsp:cNvSpPr/>
      </dsp:nvSpPr>
      <dsp:spPr>
        <a:xfrm>
          <a:off x="0" y="54393"/>
          <a:ext cx="10058399" cy="959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baseline="0"/>
            <a:t>2. Popular Client-Side Frameworks &amp; Libraries</a:t>
          </a:r>
          <a:endParaRPr lang="en-IN" sz="4000" kern="1200"/>
        </a:p>
      </dsp:txBody>
      <dsp:txXfrm>
        <a:off x="46834" y="101227"/>
        <a:ext cx="9964731" cy="8657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1D959-A017-4751-8F6E-14F8A46E6CD3}">
      <dsp:nvSpPr>
        <dsp:cNvPr id="0" name=""/>
        <dsp:cNvSpPr/>
      </dsp:nvSpPr>
      <dsp:spPr>
        <a:xfrm>
          <a:off x="0" y="87995"/>
          <a:ext cx="9939914" cy="103135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1" kern="1200" baseline="0"/>
            <a:t>3. Comparison of Client-Side Frameworks</a:t>
          </a:r>
          <a:endParaRPr lang="en-IN" sz="4300" kern="1200"/>
        </a:p>
      </dsp:txBody>
      <dsp:txXfrm>
        <a:off x="50347" y="138342"/>
        <a:ext cx="9839220" cy="9306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75D77B-DDFE-4A5A-A786-583EB4F8931B}">
      <dsp:nvSpPr>
        <dsp:cNvPr id="0" name=""/>
        <dsp:cNvSpPr/>
      </dsp:nvSpPr>
      <dsp:spPr>
        <a:xfrm>
          <a:off x="0" y="173723"/>
          <a:ext cx="10058399" cy="11033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b="1" kern="1200" baseline="0" dirty="0"/>
            <a:t> 4. Real-World Applications  of Angular</a:t>
          </a:r>
          <a:endParaRPr lang="en-IN" sz="4600" kern="1200" dirty="0"/>
        </a:p>
      </dsp:txBody>
      <dsp:txXfrm>
        <a:off x="53859" y="227582"/>
        <a:ext cx="9950681" cy="9955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F251E8-E28C-4088-A39B-614DFAEB9212}">
      <dsp:nvSpPr>
        <dsp:cNvPr id="0" name=""/>
        <dsp:cNvSpPr/>
      </dsp:nvSpPr>
      <dsp:spPr>
        <a:xfrm>
          <a:off x="0" y="125753"/>
          <a:ext cx="10058399" cy="11992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en-US" sz="5000" b="1" kern="1200" baseline="0" dirty="0"/>
            <a:t>5. Interview Questions and Answers</a:t>
          </a:r>
          <a:endParaRPr lang="en-IN" sz="5000" kern="1200" dirty="0"/>
        </a:p>
      </dsp:txBody>
      <dsp:txXfrm>
        <a:off x="58543" y="184296"/>
        <a:ext cx="9941313" cy="108216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61E45E-AFAC-4A07-B5EA-ABFC7F27B083}">
      <dsp:nvSpPr>
        <dsp:cNvPr id="0" name=""/>
        <dsp:cNvSpPr/>
      </dsp:nvSpPr>
      <dsp:spPr>
        <a:xfrm>
          <a:off x="0" y="77783"/>
          <a:ext cx="10058399" cy="12951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IN" sz="5400" kern="1200" baseline="0"/>
            <a:t>Interview Questions and Answers</a:t>
          </a:r>
          <a:endParaRPr lang="en-IN" sz="5400" kern="1200"/>
        </a:p>
      </dsp:txBody>
      <dsp:txXfrm>
        <a:off x="63226" y="141009"/>
        <a:ext cx="9931947" cy="116873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4BDF68E2-58F2-4D09-BE8B-E3BD06533059}"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8905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28FC5F6-F338-4AE4-BB23-26385BCFC423}"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extLst>
      <p:ext uri="{BB962C8B-B14F-4D97-AF65-F5344CB8AC3E}">
        <p14:creationId xmlns:p14="http://schemas.microsoft.com/office/powerpoint/2010/main" val="3361483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376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19AB4D41-86C1-4908-B66A-0B50CEB3BF29}" type="datetimeFigureOut">
              <a:rPr lang="en-US" dirty="0"/>
              <a:t>6/3/2026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144356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dirty="0"/>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6426E2C-56C1-4E0D-A793-0088A7FDD37E}" type="datetimeFigureOut">
              <a:rPr lang="en-US" dirty="0"/>
              <a:t>6/3/2026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400300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8C39B41-D8B5-4052-B551-9B5525EAA8B6}" type="datetimeFigureOut">
              <a:rPr lang="en-US" dirty="0"/>
              <a:t>6/3/2026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47093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6/3/2026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792697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dirty="0"/>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6/3/2026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001691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dirty="0"/>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6/3/2026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686178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E2D6473-DF6D-4702-B328-E0DD40540A4E}"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796955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26F7E3A-B166-407D-9866-32884E7D5B37}"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899792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6/3/2026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8949856"/>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hyperlink" Target="https://medium.com/acute-angular/angular-rookie-mistakes-how-to-cache-bust-an-angular-2-application-in-production-c4e4d1c48514" TargetMode="External"/><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3.xml"/><Relationship Id="rId7" Type="http://schemas.openxmlformats.org/officeDocument/2006/relationships/image" Target="../media/image4.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Layout" Target="../diagrams/layout5.xml"/><Relationship Id="rId7" Type="http://schemas.openxmlformats.org/officeDocument/2006/relationships/image" Target="../media/image6.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ANGULAR</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Diagram 14">
            <a:extLst>
              <a:ext uri="{FF2B5EF4-FFF2-40B4-BE49-F238E27FC236}">
                <a16:creationId xmlns:a16="http://schemas.microsoft.com/office/drawing/2014/main" id="{0A296859-9AE5-C8D7-8ECA-7AE5F203205C}"/>
              </a:ext>
            </a:extLst>
          </p:cNvPr>
          <p:cNvGraphicFramePr/>
          <p:nvPr/>
        </p:nvGraphicFramePr>
        <p:xfrm>
          <a:off x="1097280" y="286603"/>
          <a:ext cx="10058400" cy="14507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6F95D99F-D583-7164-4D2B-E8A7F2FB96E9}"/>
              </a:ext>
            </a:extLst>
          </p:cNvPr>
          <p:cNvSpPr>
            <a:spLocks noGrp="1"/>
          </p:cNvSpPr>
          <p:nvPr>
            <p:ph idx="1"/>
          </p:nvPr>
        </p:nvSpPr>
        <p:spPr/>
        <p:txBody>
          <a:bodyPr vert="horz" lIns="91440" tIns="45720" rIns="91440" bIns="45720" rtlCol="0" anchor="t">
            <a:normAutofit/>
          </a:bodyPr>
          <a:lstStyle/>
          <a:p>
            <a:r>
              <a:rPr lang="en-GB" dirty="0"/>
              <a:t>In web development, applications are divided into two</a:t>
            </a:r>
          </a:p>
          <a:p>
            <a:r>
              <a:rPr lang="en-GB" dirty="0"/>
              <a:t>parts: server-side and client-side.</a:t>
            </a:r>
            <a:endParaRPr lang="en-US" dirty="0"/>
          </a:p>
        </p:txBody>
      </p:sp>
      <p:sp>
        <p:nvSpPr>
          <p:cNvPr id="7" name="TextBox 6">
            <a:extLst>
              <a:ext uri="{FF2B5EF4-FFF2-40B4-BE49-F238E27FC236}">
                <a16:creationId xmlns:a16="http://schemas.microsoft.com/office/drawing/2014/main" id="{D855B47F-6828-3A12-7242-80DCF0BF9012}"/>
              </a:ext>
            </a:extLst>
          </p:cNvPr>
          <p:cNvSpPr txBox="1"/>
          <p:nvPr/>
        </p:nvSpPr>
        <p:spPr>
          <a:xfrm>
            <a:off x="6909578" y="2761862"/>
            <a:ext cx="3873500" cy="24714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Arial"/>
              <a:buChar char="•"/>
            </a:pPr>
            <a:r>
              <a:rPr lang="en-US" b="1" dirty="0"/>
              <a:t>Server-side frameworks </a:t>
            </a:r>
            <a:r>
              <a:rPr lang="en-US" dirty="0"/>
              <a:t>run on a web server and</a:t>
            </a:r>
          </a:p>
          <a:p>
            <a:pPr marL="285750" indent="-285750">
              <a:lnSpc>
                <a:spcPct val="90000"/>
              </a:lnSpc>
              <a:spcBef>
                <a:spcPts val="1000"/>
              </a:spcBef>
              <a:buFont typeface="Arial"/>
              <a:buChar char="•"/>
            </a:pPr>
            <a:r>
              <a:rPr lang="en-US" dirty="0"/>
              <a:t>use languages like Node.js, PHP, Python, Java, and</a:t>
            </a:r>
          </a:p>
          <a:p>
            <a:pPr marL="285750" indent="-285750">
              <a:lnSpc>
                <a:spcPct val="90000"/>
              </a:lnSpc>
              <a:spcBef>
                <a:spcPts val="1000"/>
              </a:spcBef>
              <a:buFont typeface="Arial"/>
              <a:buChar char="•"/>
            </a:pPr>
            <a:r>
              <a:rPr lang="en-US" dirty="0"/>
              <a:t>ASP.NET to handle business logic, database</a:t>
            </a:r>
          </a:p>
          <a:p>
            <a:pPr marL="285750" indent="-285750">
              <a:lnSpc>
                <a:spcPct val="90000"/>
              </a:lnSpc>
              <a:spcBef>
                <a:spcPts val="1000"/>
              </a:spcBef>
              <a:buFont typeface="Arial"/>
              <a:buChar char="•"/>
            </a:pPr>
            <a:r>
              <a:rPr lang="en-US" dirty="0"/>
              <a:t>operations, authentication, API responses, etc.</a:t>
            </a:r>
          </a:p>
        </p:txBody>
      </p:sp>
      <p:sp>
        <p:nvSpPr>
          <p:cNvPr id="5" name="TextBox 4">
            <a:extLst>
              <a:ext uri="{FF2B5EF4-FFF2-40B4-BE49-F238E27FC236}">
                <a16:creationId xmlns:a16="http://schemas.microsoft.com/office/drawing/2014/main" id="{F6597297-6C8F-4A5F-DB96-4322C17E3E25}"/>
              </a:ext>
            </a:extLst>
          </p:cNvPr>
          <p:cNvSpPr txBox="1"/>
          <p:nvPr/>
        </p:nvSpPr>
        <p:spPr>
          <a:xfrm>
            <a:off x="1175656" y="2761862"/>
            <a:ext cx="4422712" cy="2585323"/>
          </a:xfrm>
          <a:prstGeom prst="rect">
            <a:avLst/>
          </a:prstGeom>
          <a:noFill/>
        </p:spPr>
        <p:txBody>
          <a:bodyPr wrap="square" rtlCol="0">
            <a:spAutoFit/>
          </a:bodyPr>
          <a:lstStyle/>
          <a:p>
            <a:pPr marL="342900" indent="-342900">
              <a:buFont typeface="Arial" panose="020B0604020202020204" pitchFamily="34" charset="0"/>
              <a:buChar char="•"/>
            </a:pPr>
            <a:r>
              <a:rPr lang="en-GB" b="1" dirty="0"/>
              <a:t>Client-side frameworks </a:t>
            </a:r>
            <a:r>
              <a:rPr lang="en-GB" dirty="0"/>
              <a:t>run inside the web</a:t>
            </a:r>
          </a:p>
          <a:p>
            <a:pPr marL="342900" indent="-342900">
              <a:buFont typeface="Arial" panose="020B0604020202020204" pitchFamily="34" charset="0"/>
              <a:buChar char="•"/>
            </a:pPr>
            <a:r>
              <a:rPr lang="en-GB" dirty="0"/>
              <a:t>browser and are responsible for creating dynamic</a:t>
            </a:r>
          </a:p>
          <a:p>
            <a:pPr marL="342900" indent="-342900">
              <a:buFont typeface="Arial" panose="020B0604020202020204" pitchFamily="34" charset="0"/>
              <a:buChar char="•"/>
            </a:pPr>
            <a:r>
              <a:rPr lang="en-GB" dirty="0"/>
              <a:t>UI, user interactions, and rendering components.</a:t>
            </a:r>
          </a:p>
          <a:p>
            <a:pPr marL="342900" indent="-342900">
              <a:buFont typeface="Arial" panose="020B0604020202020204" pitchFamily="34" charset="0"/>
              <a:buChar char="•"/>
            </a:pPr>
            <a:r>
              <a:rPr lang="en-GB" dirty="0"/>
              <a:t>Examples: React, Angular, Vue.</a:t>
            </a:r>
          </a:p>
          <a:p>
            <a:pPr marL="342900" indent="-342900">
              <a:buFont typeface="Arial" panose="020B0604020202020204" pitchFamily="34" charset="0"/>
              <a:buChar char="•"/>
            </a:pPr>
            <a:endParaRPr lang="en-GB" dirty="0"/>
          </a:p>
          <a:p>
            <a:endParaRPr lang="en-IN" dirty="0"/>
          </a:p>
        </p:txBody>
      </p:sp>
      <p:sp>
        <p:nvSpPr>
          <p:cNvPr id="6" name="Rectangle 5">
            <a:extLst>
              <a:ext uri="{FF2B5EF4-FFF2-40B4-BE49-F238E27FC236}">
                <a16:creationId xmlns:a16="http://schemas.microsoft.com/office/drawing/2014/main" id="{AAF49F40-0EBB-54C7-66C0-83A465C07B1A}"/>
              </a:ext>
            </a:extLst>
          </p:cNvPr>
          <p:cNvSpPr/>
          <p:nvPr/>
        </p:nvSpPr>
        <p:spPr>
          <a:xfrm>
            <a:off x="1175656" y="2761862"/>
            <a:ext cx="4566402" cy="2677886"/>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F7B59FB7-2AD6-C5F3-D4B1-3D7F0E2F9DBF}"/>
              </a:ext>
            </a:extLst>
          </p:cNvPr>
          <p:cNvSpPr/>
          <p:nvPr/>
        </p:nvSpPr>
        <p:spPr>
          <a:xfrm>
            <a:off x="6820678" y="2668555"/>
            <a:ext cx="4049485" cy="2677886"/>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2" name="Rectangle: Rounded Corners 11">
            <a:extLst>
              <a:ext uri="{FF2B5EF4-FFF2-40B4-BE49-F238E27FC236}">
                <a16:creationId xmlns:a16="http://schemas.microsoft.com/office/drawing/2014/main" id="{769FE628-436D-78AB-036B-A7B037244076}"/>
              </a:ext>
            </a:extLst>
          </p:cNvPr>
          <p:cNvSpPr/>
          <p:nvPr/>
        </p:nvSpPr>
        <p:spPr>
          <a:xfrm>
            <a:off x="1175657" y="5598367"/>
            <a:ext cx="9759822" cy="664946"/>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800356F6-43A1-90C8-4A3D-85BCF02A5C9E}"/>
              </a:ext>
            </a:extLst>
          </p:cNvPr>
          <p:cNvSpPr txBox="1"/>
          <p:nvPr/>
        </p:nvSpPr>
        <p:spPr>
          <a:xfrm>
            <a:off x="363894" y="5608442"/>
            <a:ext cx="11258316" cy="923330"/>
          </a:xfrm>
          <a:prstGeom prst="rect">
            <a:avLst/>
          </a:prstGeom>
          <a:noFill/>
        </p:spPr>
        <p:txBody>
          <a:bodyPr wrap="square" rtlCol="0">
            <a:spAutoFit/>
          </a:bodyPr>
          <a:lstStyle/>
          <a:p>
            <a:pPr algn="ctr"/>
            <a:r>
              <a:rPr lang="en-GB" dirty="0">
                <a:solidFill>
                  <a:schemeClr val="bg1"/>
                </a:solidFill>
              </a:rPr>
              <a:t>Client-side frameworks/libraries mainly focus on  building responsive, interactive, and fast user </a:t>
            </a:r>
          </a:p>
          <a:p>
            <a:pPr algn="ctr"/>
            <a:r>
              <a:rPr lang="en-GB" dirty="0">
                <a:solidFill>
                  <a:schemeClr val="bg1"/>
                </a:solidFill>
              </a:rPr>
              <a:t>interfaces without reloading the entire page.</a:t>
            </a:r>
            <a:endParaRPr lang="en-IN"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3803226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61098F-1925-AFA0-5693-71C4584B435A}"/>
              </a:ext>
            </a:extLst>
          </p:cNvPr>
          <p:cNvSpPr>
            <a:spLocks noGrp="1"/>
          </p:cNvSpPr>
          <p:nvPr>
            <p:ph idx="1"/>
          </p:nvPr>
        </p:nvSpPr>
        <p:spPr>
          <a:xfrm>
            <a:off x="1097280" y="1845733"/>
            <a:ext cx="10058400" cy="4408163"/>
          </a:xfrm>
        </p:spPr>
        <p:txBody>
          <a:bodyPr vert="horz" lIns="91440" tIns="45720" rIns="91440" bIns="45720" rtlCol="0" anchor="t">
            <a:normAutofit fontScale="92500" lnSpcReduction="20000"/>
          </a:bodyPr>
          <a:lstStyle/>
          <a:p>
            <a:r>
              <a:rPr lang="en-GB" sz="1900" b="1" dirty="0">
                <a:solidFill>
                  <a:schemeClr val="tx1"/>
                </a:solidFill>
              </a:rPr>
              <a:t>1. Angular</a:t>
            </a:r>
          </a:p>
          <a:p>
            <a:r>
              <a:rPr lang="en-GB" sz="1800" dirty="0">
                <a:solidFill>
                  <a:schemeClr val="tx1"/>
                </a:solidFill>
              </a:rPr>
              <a:t>• Developed and maintained by Google.</a:t>
            </a:r>
          </a:p>
          <a:p>
            <a:r>
              <a:rPr lang="en-GB" sz="1800" dirty="0">
                <a:solidFill>
                  <a:schemeClr val="tx1"/>
                </a:solidFill>
              </a:rPr>
              <a:t>• Full-fledged MVC/MVVM framework.</a:t>
            </a:r>
          </a:p>
          <a:p>
            <a:r>
              <a:rPr lang="en-GB" sz="1800" dirty="0">
                <a:solidFill>
                  <a:schemeClr val="tx1"/>
                </a:solidFill>
              </a:rPr>
              <a:t>• Uses TypeScript heavily.</a:t>
            </a:r>
          </a:p>
          <a:p>
            <a:r>
              <a:rPr lang="en-GB" sz="1800" dirty="0">
                <a:solidFill>
                  <a:schemeClr val="tx1"/>
                </a:solidFill>
              </a:rPr>
              <a:t>• Suitable for large-scale enterprise applications.</a:t>
            </a:r>
          </a:p>
          <a:p>
            <a:endParaRPr lang="en-GB" sz="1800" dirty="0">
              <a:solidFill>
                <a:schemeClr val="tx1"/>
              </a:solidFill>
            </a:endParaRPr>
          </a:p>
          <a:p>
            <a:r>
              <a:rPr lang="en-GB" sz="1900" b="1" dirty="0">
                <a:solidFill>
                  <a:schemeClr val="tx1"/>
                </a:solidFill>
              </a:rPr>
              <a:t>2. React</a:t>
            </a:r>
          </a:p>
          <a:p>
            <a:r>
              <a:rPr lang="en-GB" sz="1800" dirty="0">
                <a:solidFill>
                  <a:schemeClr val="tx1"/>
                </a:solidFill>
              </a:rPr>
              <a:t>• Developed and maintained by Facebook (Meta).</a:t>
            </a:r>
          </a:p>
          <a:p>
            <a:r>
              <a:rPr lang="en-GB" sz="1800" dirty="0">
                <a:solidFill>
                  <a:schemeClr val="tx1"/>
                </a:solidFill>
              </a:rPr>
              <a:t>• Component-based JavaScript library, not a full</a:t>
            </a:r>
          </a:p>
          <a:p>
            <a:r>
              <a:rPr lang="en-GB" sz="1800" dirty="0">
                <a:solidFill>
                  <a:schemeClr val="tx1"/>
                </a:solidFill>
              </a:rPr>
              <a:t>   framework.</a:t>
            </a:r>
          </a:p>
          <a:p>
            <a:r>
              <a:rPr lang="en-GB" sz="1800" dirty="0">
                <a:solidFill>
                  <a:schemeClr val="tx1"/>
                </a:solidFill>
              </a:rPr>
              <a:t>• Uses Virtual DOM for faster rendering.</a:t>
            </a:r>
          </a:p>
          <a:p>
            <a:r>
              <a:rPr lang="en-GB" sz="1800" dirty="0">
                <a:solidFill>
                  <a:schemeClr val="tx1"/>
                </a:solidFill>
              </a:rPr>
              <a:t>• Best for building SPAs (Single Page Applications).</a:t>
            </a:r>
          </a:p>
          <a:p>
            <a:endParaRPr lang="en-US" sz="1800" dirty="0">
              <a:solidFill>
                <a:schemeClr val="tx1"/>
              </a:solidFill>
            </a:endParaRPr>
          </a:p>
        </p:txBody>
      </p:sp>
      <p:graphicFrame>
        <p:nvGraphicFramePr>
          <p:cNvPr id="16" name="Diagram 15">
            <a:extLst>
              <a:ext uri="{FF2B5EF4-FFF2-40B4-BE49-F238E27FC236}">
                <a16:creationId xmlns:a16="http://schemas.microsoft.com/office/drawing/2014/main" id="{1E277132-A883-5784-8F4F-5332E81BEBA2}"/>
              </a:ext>
            </a:extLst>
          </p:cNvPr>
          <p:cNvGraphicFramePr/>
          <p:nvPr>
            <p:extLst>
              <p:ext uri="{D42A27DB-BD31-4B8C-83A1-F6EECF244321}">
                <p14:modId xmlns:p14="http://schemas.microsoft.com/office/powerpoint/2010/main" val="2253603833"/>
              </p:ext>
            </p:extLst>
          </p:nvPr>
        </p:nvGraphicFramePr>
        <p:xfrm>
          <a:off x="1097280" y="444616"/>
          <a:ext cx="10058400" cy="12742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40F208AD-28B8-8897-3C06-6D9D55E54631}"/>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7544281" y="1836620"/>
            <a:ext cx="1817708" cy="1817708"/>
          </a:xfrm>
          <a:prstGeom prst="rect">
            <a:avLst/>
          </a:prstGeom>
        </p:spPr>
      </p:pic>
      <p:pic>
        <p:nvPicPr>
          <p:cNvPr id="1028" name="Picture 4" descr="design development facebook framework mobile react icon">
            <a:extLst>
              <a:ext uri="{FF2B5EF4-FFF2-40B4-BE49-F238E27FC236}">
                <a16:creationId xmlns:a16="http://schemas.microsoft.com/office/drawing/2014/main" id="{64E9DEA1-5278-4C4F-B8E4-03A2C3FDD9D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81572" y="3908108"/>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7015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A53D8-5C34-E8C4-5279-E6A17936FE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D3E2FD-7CA9-B8A1-BC63-2A8FB4963320}"/>
              </a:ext>
            </a:extLst>
          </p:cNvPr>
          <p:cNvSpPr>
            <a:spLocks noGrp="1"/>
          </p:cNvSpPr>
          <p:nvPr>
            <p:ph idx="1"/>
          </p:nvPr>
        </p:nvSpPr>
        <p:spPr>
          <a:xfrm>
            <a:off x="1097280" y="1845733"/>
            <a:ext cx="10058400" cy="4408163"/>
          </a:xfrm>
        </p:spPr>
        <p:txBody>
          <a:bodyPr vert="horz" lIns="91440" tIns="45720" rIns="91440" bIns="45720" rtlCol="0" anchor="t">
            <a:normAutofit/>
          </a:bodyPr>
          <a:lstStyle/>
          <a:p>
            <a:r>
              <a:rPr lang="en-US" sz="1800" b="1" dirty="0">
                <a:solidFill>
                  <a:schemeClr val="tx1"/>
                </a:solidFill>
              </a:rPr>
              <a:t>3. Bootstrap</a:t>
            </a:r>
          </a:p>
          <a:p>
            <a:r>
              <a:rPr lang="en-US" sz="1800" dirty="0">
                <a:solidFill>
                  <a:schemeClr val="tx1"/>
                </a:solidFill>
              </a:rPr>
              <a:t>• Frontend UI framework created by Twitter.</a:t>
            </a:r>
          </a:p>
          <a:p>
            <a:r>
              <a:rPr lang="en-US" sz="1800" dirty="0">
                <a:solidFill>
                  <a:schemeClr val="tx1"/>
                </a:solidFill>
              </a:rPr>
              <a:t>• Provides prebuilt CSS &amp; JS components (buttons,</a:t>
            </a:r>
          </a:p>
          <a:p>
            <a:r>
              <a:rPr lang="en-US" sz="1800" dirty="0">
                <a:solidFill>
                  <a:schemeClr val="tx1"/>
                </a:solidFill>
              </a:rPr>
              <a:t>modals, grids, etc.).</a:t>
            </a:r>
          </a:p>
          <a:p>
            <a:r>
              <a:rPr lang="en-US" sz="1800" dirty="0">
                <a:solidFill>
                  <a:schemeClr val="tx1"/>
                </a:solidFill>
              </a:rPr>
              <a:t>• Used mainly for responsive layout design, not</a:t>
            </a:r>
          </a:p>
          <a:p>
            <a:r>
              <a:rPr lang="en-US" sz="1800" dirty="0">
                <a:solidFill>
                  <a:schemeClr val="tx1"/>
                </a:solidFill>
              </a:rPr>
              <a:t>application logic.</a:t>
            </a:r>
          </a:p>
          <a:p>
            <a:r>
              <a:rPr lang="en-GB" sz="1800" b="1" dirty="0">
                <a:solidFill>
                  <a:schemeClr val="tx1"/>
                </a:solidFill>
              </a:rPr>
              <a:t>4. Vue</a:t>
            </a:r>
          </a:p>
          <a:p>
            <a:r>
              <a:rPr lang="en-GB" sz="1800" dirty="0">
                <a:solidFill>
                  <a:schemeClr val="tx1"/>
                </a:solidFill>
              </a:rPr>
              <a:t>• Developed by Evan You (ex-Google Engineer).</a:t>
            </a:r>
          </a:p>
          <a:p>
            <a:r>
              <a:rPr lang="en-GB" sz="1800" dirty="0">
                <a:solidFill>
                  <a:schemeClr val="tx1"/>
                </a:solidFill>
              </a:rPr>
              <a:t>• Progressive, lightweight, and very easy to learn.</a:t>
            </a:r>
          </a:p>
          <a:p>
            <a:r>
              <a:rPr lang="en-GB" sz="1800" dirty="0">
                <a:solidFill>
                  <a:schemeClr val="tx1"/>
                </a:solidFill>
              </a:rPr>
              <a:t>• Focuses mainly on the View layer.</a:t>
            </a:r>
            <a:endParaRPr lang="en-US" sz="1800" dirty="0">
              <a:solidFill>
                <a:schemeClr val="tx1"/>
              </a:solidFill>
            </a:endParaRPr>
          </a:p>
        </p:txBody>
      </p:sp>
      <p:graphicFrame>
        <p:nvGraphicFramePr>
          <p:cNvPr id="2" name="Diagram 1">
            <a:extLst>
              <a:ext uri="{FF2B5EF4-FFF2-40B4-BE49-F238E27FC236}">
                <a16:creationId xmlns:a16="http://schemas.microsoft.com/office/drawing/2014/main" id="{18351CFE-2C0D-87F1-D488-342B5BAD4646}"/>
              </a:ext>
            </a:extLst>
          </p:cNvPr>
          <p:cNvGraphicFramePr/>
          <p:nvPr>
            <p:extLst>
              <p:ext uri="{D42A27DB-BD31-4B8C-83A1-F6EECF244321}">
                <p14:modId xmlns:p14="http://schemas.microsoft.com/office/powerpoint/2010/main" val="73211491"/>
              </p:ext>
            </p:extLst>
          </p:nvPr>
        </p:nvGraphicFramePr>
        <p:xfrm>
          <a:off x="1097280" y="604103"/>
          <a:ext cx="10058400" cy="12742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a:extLst>
              <a:ext uri="{FF2B5EF4-FFF2-40B4-BE49-F238E27FC236}">
                <a16:creationId xmlns:a16="http://schemas.microsoft.com/office/drawing/2014/main" id="{ABFEFF46-5BD2-D20E-DD20-F500DF56761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64452" y="2147271"/>
            <a:ext cx="1714249" cy="136608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C04F0AA-29A0-EDA5-236F-DC7D371B45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64451" y="4572108"/>
            <a:ext cx="1714249" cy="1485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3180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Diagram 10">
            <a:extLst>
              <a:ext uri="{FF2B5EF4-FFF2-40B4-BE49-F238E27FC236}">
                <a16:creationId xmlns:a16="http://schemas.microsoft.com/office/drawing/2014/main" id="{8BAAA85F-3B7C-7624-803F-E9D2926048BA}"/>
              </a:ext>
            </a:extLst>
          </p:cNvPr>
          <p:cNvGraphicFramePr/>
          <p:nvPr/>
        </p:nvGraphicFramePr>
        <p:xfrm>
          <a:off x="1097280" y="286604"/>
          <a:ext cx="9939914" cy="12073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Content Placeholder 11">
            <a:extLst>
              <a:ext uri="{FF2B5EF4-FFF2-40B4-BE49-F238E27FC236}">
                <a16:creationId xmlns:a16="http://schemas.microsoft.com/office/drawing/2014/main" id="{BD16D228-053B-75AC-74AE-31D322B4863A}"/>
              </a:ext>
            </a:extLst>
          </p:cNvPr>
          <p:cNvGraphicFramePr>
            <a:graphicFrameLocks noGrp="1"/>
          </p:cNvGraphicFramePr>
          <p:nvPr>
            <p:ph idx="1"/>
            <p:extLst>
              <p:ext uri="{D42A27DB-BD31-4B8C-83A1-F6EECF244321}">
                <p14:modId xmlns:p14="http://schemas.microsoft.com/office/powerpoint/2010/main" val="799743357"/>
              </p:ext>
            </p:extLst>
          </p:nvPr>
        </p:nvGraphicFramePr>
        <p:xfrm>
          <a:off x="1096963" y="1846263"/>
          <a:ext cx="10058400" cy="3942080"/>
        </p:xfrm>
        <a:graphic>
          <a:graphicData uri="http://schemas.openxmlformats.org/drawingml/2006/table">
            <a:tbl>
              <a:tblPr firstRow="1" bandRow="1">
                <a:tableStyleId>{8A107856-5554-42FB-B03E-39F5DBC370BA}</a:tableStyleId>
              </a:tblPr>
              <a:tblGrid>
                <a:gridCol w="2011680">
                  <a:extLst>
                    <a:ext uri="{9D8B030D-6E8A-4147-A177-3AD203B41FA5}">
                      <a16:colId xmlns:a16="http://schemas.microsoft.com/office/drawing/2014/main" val="2005674931"/>
                    </a:ext>
                  </a:extLst>
                </a:gridCol>
                <a:gridCol w="2011680">
                  <a:extLst>
                    <a:ext uri="{9D8B030D-6E8A-4147-A177-3AD203B41FA5}">
                      <a16:colId xmlns:a16="http://schemas.microsoft.com/office/drawing/2014/main" val="4209880970"/>
                    </a:ext>
                  </a:extLst>
                </a:gridCol>
                <a:gridCol w="2011680">
                  <a:extLst>
                    <a:ext uri="{9D8B030D-6E8A-4147-A177-3AD203B41FA5}">
                      <a16:colId xmlns:a16="http://schemas.microsoft.com/office/drawing/2014/main" val="2035013652"/>
                    </a:ext>
                  </a:extLst>
                </a:gridCol>
                <a:gridCol w="2011680">
                  <a:extLst>
                    <a:ext uri="{9D8B030D-6E8A-4147-A177-3AD203B41FA5}">
                      <a16:colId xmlns:a16="http://schemas.microsoft.com/office/drawing/2014/main" val="3840326947"/>
                    </a:ext>
                  </a:extLst>
                </a:gridCol>
                <a:gridCol w="2011680">
                  <a:extLst>
                    <a:ext uri="{9D8B030D-6E8A-4147-A177-3AD203B41FA5}">
                      <a16:colId xmlns:a16="http://schemas.microsoft.com/office/drawing/2014/main" val="3034178944"/>
                    </a:ext>
                  </a:extLst>
                </a:gridCol>
              </a:tblGrid>
              <a:tr h="370840">
                <a:tc>
                  <a:txBody>
                    <a:bodyPr/>
                    <a:lstStyle/>
                    <a:p>
                      <a:r>
                        <a:rPr lang="en-GB" dirty="0"/>
                        <a:t>Feature</a:t>
                      </a:r>
                      <a:endParaRPr lang="en-IN" dirty="0"/>
                    </a:p>
                  </a:txBody>
                  <a:tcPr/>
                </a:tc>
                <a:tc>
                  <a:txBody>
                    <a:bodyPr/>
                    <a:lstStyle/>
                    <a:p>
                      <a:r>
                        <a:rPr lang="en-GB" dirty="0"/>
                        <a:t>Angular</a:t>
                      </a:r>
                      <a:endParaRPr lang="en-IN" dirty="0"/>
                    </a:p>
                  </a:txBody>
                  <a:tcPr/>
                </a:tc>
                <a:tc>
                  <a:txBody>
                    <a:bodyPr/>
                    <a:lstStyle/>
                    <a:p>
                      <a:r>
                        <a:rPr lang="en-GB" dirty="0"/>
                        <a:t>React</a:t>
                      </a:r>
                      <a:endParaRPr lang="en-IN" dirty="0"/>
                    </a:p>
                  </a:txBody>
                  <a:tcPr/>
                </a:tc>
                <a:tc>
                  <a:txBody>
                    <a:bodyPr/>
                    <a:lstStyle/>
                    <a:p>
                      <a:r>
                        <a:rPr lang="en-GB" dirty="0"/>
                        <a:t>Vue</a:t>
                      </a:r>
                      <a:endParaRPr lang="en-IN" dirty="0"/>
                    </a:p>
                  </a:txBody>
                  <a:tcPr/>
                </a:tc>
                <a:tc>
                  <a:txBody>
                    <a:bodyPr/>
                    <a:lstStyle/>
                    <a:p>
                      <a:r>
                        <a:rPr lang="en-GB" dirty="0"/>
                        <a:t>Bootstrap</a:t>
                      </a:r>
                      <a:endParaRPr lang="en-IN" dirty="0"/>
                    </a:p>
                  </a:txBody>
                  <a:tcPr/>
                </a:tc>
                <a:extLst>
                  <a:ext uri="{0D108BD9-81ED-4DB2-BD59-A6C34878D82A}">
                    <a16:rowId xmlns:a16="http://schemas.microsoft.com/office/drawing/2014/main" val="4269624030"/>
                  </a:ext>
                </a:extLst>
              </a:tr>
              <a:tr h="370840">
                <a:tc>
                  <a:txBody>
                    <a:bodyPr/>
                    <a:lstStyle/>
                    <a:p>
                      <a:r>
                        <a:rPr lang="en-GB" b="1" dirty="0"/>
                        <a:t>Type</a:t>
                      </a:r>
                      <a:endParaRPr lang="en-IN" b="1" dirty="0"/>
                    </a:p>
                  </a:txBody>
                  <a:tcPr/>
                </a:tc>
                <a:tc>
                  <a:txBody>
                    <a:bodyPr/>
                    <a:lstStyle/>
                    <a:p>
                      <a:r>
                        <a:rPr lang="en-GB" dirty="0"/>
                        <a:t>Full Framework</a:t>
                      </a:r>
                      <a:endParaRPr lang="en-IN" dirty="0"/>
                    </a:p>
                  </a:txBody>
                  <a:tcPr/>
                </a:tc>
                <a:tc>
                  <a:txBody>
                    <a:bodyPr/>
                    <a:lstStyle/>
                    <a:p>
                      <a:r>
                        <a:rPr lang="en-GB" dirty="0" err="1"/>
                        <a:t>Javascript</a:t>
                      </a:r>
                      <a:r>
                        <a:rPr lang="en-GB" dirty="0"/>
                        <a:t> Library</a:t>
                      </a:r>
                      <a:endParaRPr lang="en-IN" dirty="0"/>
                    </a:p>
                  </a:txBody>
                  <a:tcPr/>
                </a:tc>
                <a:tc>
                  <a:txBody>
                    <a:bodyPr/>
                    <a:lstStyle/>
                    <a:p>
                      <a:r>
                        <a:rPr lang="en-GB" dirty="0"/>
                        <a:t>Progressive Framework</a:t>
                      </a:r>
                      <a:endParaRPr lang="en-IN" dirty="0"/>
                    </a:p>
                  </a:txBody>
                  <a:tcPr/>
                </a:tc>
                <a:tc>
                  <a:txBody>
                    <a:bodyPr/>
                    <a:lstStyle/>
                    <a:p>
                      <a:r>
                        <a:rPr lang="en-GB" dirty="0"/>
                        <a:t>UI Styling Framework</a:t>
                      </a:r>
                      <a:endParaRPr lang="en-IN" dirty="0"/>
                    </a:p>
                  </a:txBody>
                  <a:tcPr/>
                </a:tc>
                <a:extLst>
                  <a:ext uri="{0D108BD9-81ED-4DB2-BD59-A6C34878D82A}">
                    <a16:rowId xmlns:a16="http://schemas.microsoft.com/office/drawing/2014/main" val="4199253835"/>
                  </a:ext>
                </a:extLst>
              </a:tr>
              <a:tr h="370840">
                <a:tc>
                  <a:txBody>
                    <a:bodyPr/>
                    <a:lstStyle/>
                    <a:p>
                      <a:r>
                        <a:rPr lang="en-GB" b="1" dirty="0"/>
                        <a:t>Language</a:t>
                      </a:r>
                      <a:endParaRPr lang="en-IN" b="1" dirty="0"/>
                    </a:p>
                  </a:txBody>
                  <a:tcPr/>
                </a:tc>
                <a:tc>
                  <a:txBody>
                    <a:bodyPr/>
                    <a:lstStyle/>
                    <a:p>
                      <a:r>
                        <a:rPr lang="en-GB" dirty="0"/>
                        <a:t>Typescript</a:t>
                      </a:r>
                      <a:endParaRPr lang="en-IN" dirty="0"/>
                    </a:p>
                  </a:txBody>
                  <a:tcPr/>
                </a:tc>
                <a:tc>
                  <a:txBody>
                    <a:bodyPr/>
                    <a:lstStyle/>
                    <a:p>
                      <a:r>
                        <a:rPr lang="en-GB" dirty="0" err="1"/>
                        <a:t>Javascript</a:t>
                      </a:r>
                      <a:r>
                        <a:rPr lang="en-GB" dirty="0"/>
                        <a:t> + JSX</a:t>
                      </a:r>
                      <a:endParaRPr lang="en-IN" dirty="0"/>
                    </a:p>
                  </a:txBody>
                  <a:tcPr/>
                </a:tc>
                <a:tc>
                  <a:txBody>
                    <a:bodyPr/>
                    <a:lstStyle/>
                    <a:p>
                      <a:r>
                        <a:rPr lang="en-GB" dirty="0" err="1"/>
                        <a:t>Javascript</a:t>
                      </a:r>
                      <a:r>
                        <a:rPr lang="en-GB" dirty="0"/>
                        <a:t> + Templates</a:t>
                      </a:r>
                      <a:endParaRPr lang="en-IN" dirty="0"/>
                    </a:p>
                  </a:txBody>
                  <a:tcPr/>
                </a:tc>
                <a:tc>
                  <a:txBody>
                    <a:bodyPr/>
                    <a:lstStyle/>
                    <a:p>
                      <a:r>
                        <a:rPr lang="en-GB" dirty="0"/>
                        <a:t>HTML, CSS, JS</a:t>
                      </a:r>
                      <a:endParaRPr lang="en-IN" dirty="0"/>
                    </a:p>
                  </a:txBody>
                  <a:tcPr/>
                </a:tc>
                <a:extLst>
                  <a:ext uri="{0D108BD9-81ED-4DB2-BD59-A6C34878D82A}">
                    <a16:rowId xmlns:a16="http://schemas.microsoft.com/office/drawing/2014/main" val="798728689"/>
                  </a:ext>
                </a:extLst>
              </a:tr>
              <a:tr h="370840">
                <a:tc>
                  <a:txBody>
                    <a:bodyPr/>
                    <a:lstStyle/>
                    <a:p>
                      <a:r>
                        <a:rPr lang="en-GB" b="1" dirty="0"/>
                        <a:t>Learning Curve</a:t>
                      </a:r>
                      <a:endParaRPr lang="en-IN" b="1" dirty="0"/>
                    </a:p>
                  </a:txBody>
                  <a:tcPr/>
                </a:tc>
                <a:tc>
                  <a:txBody>
                    <a:bodyPr/>
                    <a:lstStyle/>
                    <a:p>
                      <a:r>
                        <a:rPr lang="en-GB" dirty="0"/>
                        <a:t>Hard</a:t>
                      </a:r>
                      <a:endParaRPr lang="en-IN" dirty="0"/>
                    </a:p>
                  </a:txBody>
                  <a:tcPr/>
                </a:tc>
                <a:tc>
                  <a:txBody>
                    <a:bodyPr/>
                    <a:lstStyle/>
                    <a:p>
                      <a:r>
                        <a:rPr lang="en-GB" dirty="0"/>
                        <a:t>Moderate</a:t>
                      </a:r>
                      <a:endParaRPr lang="en-IN" dirty="0"/>
                    </a:p>
                  </a:txBody>
                  <a:tcPr/>
                </a:tc>
                <a:tc>
                  <a:txBody>
                    <a:bodyPr/>
                    <a:lstStyle/>
                    <a:p>
                      <a:r>
                        <a:rPr lang="en-GB" dirty="0"/>
                        <a:t>Easy </a:t>
                      </a:r>
                      <a:endParaRPr lang="en-IN" dirty="0"/>
                    </a:p>
                  </a:txBody>
                  <a:tcPr/>
                </a:tc>
                <a:tc>
                  <a:txBody>
                    <a:bodyPr/>
                    <a:lstStyle/>
                    <a:p>
                      <a:r>
                        <a:rPr lang="en-GB" dirty="0"/>
                        <a:t>Very Easy</a:t>
                      </a:r>
                      <a:endParaRPr lang="en-IN" dirty="0"/>
                    </a:p>
                  </a:txBody>
                  <a:tcPr/>
                </a:tc>
                <a:extLst>
                  <a:ext uri="{0D108BD9-81ED-4DB2-BD59-A6C34878D82A}">
                    <a16:rowId xmlns:a16="http://schemas.microsoft.com/office/drawing/2014/main" val="3751350312"/>
                  </a:ext>
                </a:extLst>
              </a:tr>
              <a:tr h="370840">
                <a:tc>
                  <a:txBody>
                    <a:bodyPr/>
                    <a:lstStyle/>
                    <a:p>
                      <a:r>
                        <a:rPr lang="en-GB" b="1" dirty="0"/>
                        <a:t>Performance </a:t>
                      </a:r>
                      <a:endParaRPr lang="en-IN" b="1" dirty="0"/>
                    </a:p>
                  </a:txBody>
                  <a:tcPr/>
                </a:tc>
                <a:tc>
                  <a:txBody>
                    <a:bodyPr/>
                    <a:lstStyle/>
                    <a:p>
                      <a:r>
                        <a:rPr lang="en-GB" dirty="0"/>
                        <a:t>High</a:t>
                      </a:r>
                      <a:endParaRPr lang="en-IN" dirty="0"/>
                    </a:p>
                  </a:txBody>
                  <a:tcPr/>
                </a:tc>
                <a:tc>
                  <a:txBody>
                    <a:bodyPr/>
                    <a:lstStyle/>
                    <a:p>
                      <a:r>
                        <a:rPr lang="en-GB" dirty="0"/>
                        <a:t>Very High (Virtual DOM)</a:t>
                      </a:r>
                      <a:endParaRPr lang="en-IN" dirty="0"/>
                    </a:p>
                  </a:txBody>
                  <a:tcPr/>
                </a:tc>
                <a:tc>
                  <a:txBody>
                    <a:bodyPr/>
                    <a:lstStyle/>
                    <a:p>
                      <a:r>
                        <a:rPr lang="en-GB" dirty="0"/>
                        <a:t>Very High (Virtual DOM)</a:t>
                      </a:r>
                      <a:endParaRPr lang="en-IN" dirty="0"/>
                    </a:p>
                  </a:txBody>
                  <a:tcPr/>
                </a:tc>
                <a:tc>
                  <a:txBody>
                    <a:bodyPr/>
                    <a:lstStyle/>
                    <a:p>
                      <a:r>
                        <a:rPr lang="en-GB" dirty="0"/>
                        <a:t>Not Applicable (UI only)</a:t>
                      </a:r>
                      <a:endParaRPr lang="en-IN" dirty="0"/>
                    </a:p>
                  </a:txBody>
                  <a:tcPr/>
                </a:tc>
                <a:extLst>
                  <a:ext uri="{0D108BD9-81ED-4DB2-BD59-A6C34878D82A}">
                    <a16:rowId xmlns:a16="http://schemas.microsoft.com/office/drawing/2014/main" val="585243472"/>
                  </a:ext>
                </a:extLst>
              </a:tr>
              <a:tr h="370840">
                <a:tc>
                  <a:txBody>
                    <a:bodyPr/>
                    <a:lstStyle/>
                    <a:p>
                      <a:r>
                        <a:rPr lang="en-GB" b="1" dirty="0"/>
                        <a:t>Best For</a:t>
                      </a:r>
                      <a:endParaRPr lang="en-IN" b="1" dirty="0"/>
                    </a:p>
                  </a:txBody>
                  <a:tcPr/>
                </a:tc>
                <a:tc>
                  <a:txBody>
                    <a:bodyPr/>
                    <a:lstStyle/>
                    <a:p>
                      <a:r>
                        <a:rPr lang="en-GB" dirty="0"/>
                        <a:t>Enterprises –level apps</a:t>
                      </a:r>
                      <a:endParaRPr lang="en-IN" dirty="0"/>
                    </a:p>
                  </a:txBody>
                  <a:tcPr/>
                </a:tc>
                <a:tc>
                  <a:txBody>
                    <a:bodyPr/>
                    <a:lstStyle/>
                    <a:p>
                      <a:r>
                        <a:rPr lang="en-GB" dirty="0"/>
                        <a:t>SPAs and Large UI apps</a:t>
                      </a:r>
                      <a:endParaRPr lang="en-IN" dirty="0"/>
                    </a:p>
                  </a:txBody>
                  <a:tcPr/>
                </a:tc>
                <a:tc>
                  <a:txBody>
                    <a:bodyPr/>
                    <a:lstStyle/>
                    <a:p>
                      <a:r>
                        <a:rPr lang="en-GB" dirty="0"/>
                        <a:t>Lightweight &amp; Flexible apps</a:t>
                      </a:r>
                      <a:endParaRPr lang="en-IN" dirty="0"/>
                    </a:p>
                  </a:txBody>
                  <a:tcPr/>
                </a:tc>
                <a:tc>
                  <a:txBody>
                    <a:bodyPr/>
                    <a:lstStyle/>
                    <a:p>
                      <a:r>
                        <a:rPr lang="en-GB" dirty="0"/>
                        <a:t>Responsive UI design</a:t>
                      </a:r>
                      <a:endParaRPr lang="en-IN" dirty="0"/>
                    </a:p>
                  </a:txBody>
                  <a:tcPr/>
                </a:tc>
                <a:extLst>
                  <a:ext uri="{0D108BD9-81ED-4DB2-BD59-A6C34878D82A}">
                    <a16:rowId xmlns:a16="http://schemas.microsoft.com/office/drawing/2014/main" val="3931273882"/>
                  </a:ext>
                </a:extLst>
              </a:tr>
              <a:tr h="370840">
                <a:tc>
                  <a:txBody>
                    <a:bodyPr/>
                    <a:lstStyle/>
                    <a:p>
                      <a:r>
                        <a:rPr lang="en-GB" b="1" dirty="0"/>
                        <a:t>Developed BY</a:t>
                      </a:r>
                      <a:endParaRPr lang="en-IN" b="1" dirty="0"/>
                    </a:p>
                  </a:txBody>
                  <a:tcPr/>
                </a:tc>
                <a:tc>
                  <a:txBody>
                    <a:bodyPr/>
                    <a:lstStyle/>
                    <a:p>
                      <a:r>
                        <a:rPr lang="en-GB" dirty="0"/>
                        <a:t>Google</a:t>
                      </a:r>
                      <a:endParaRPr lang="en-IN" dirty="0"/>
                    </a:p>
                  </a:txBody>
                  <a:tcPr/>
                </a:tc>
                <a:tc>
                  <a:txBody>
                    <a:bodyPr/>
                    <a:lstStyle/>
                    <a:p>
                      <a:r>
                        <a:rPr lang="en-GB" dirty="0"/>
                        <a:t>Facebook</a:t>
                      </a:r>
                      <a:endParaRPr lang="en-IN" dirty="0"/>
                    </a:p>
                  </a:txBody>
                  <a:tcPr/>
                </a:tc>
                <a:tc>
                  <a:txBody>
                    <a:bodyPr/>
                    <a:lstStyle/>
                    <a:p>
                      <a:r>
                        <a:rPr lang="en-GB" dirty="0"/>
                        <a:t>Community (led by </a:t>
                      </a:r>
                      <a:r>
                        <a:rPr lang="en-GB" dirty="0" err="1"/>
                        <a:t>evan</a:t>
                      </a:r>
                      <a:r>
                        <a:rPr lang="en-GB" dirty="0"/>
                        <a:t> you )</a:t>
                      </a:r>
                      <a:endParaRPr lang="en-IN" dirty="0"/>
                    </a:p>
                  </a:txBody>
                  <a:tcPr/>
                </a:tc>
                <a:tc>
                  <a:txBody>
                    <a:bodyPr/>
                    <a:lstStyle/>
                    <a:p>
                      <a:r>
                        <a:rPr lang="en-GB" dirty="0"/>
                        <a:t>Twitter</a:t>
                      </a:r>
                      <a:endParaRPr lang="en-IN" dirty="0"/>
                    </a:p>
                  </a:txBody>
                  <a:tcPr/>
                </a:tc>
                <a:extLst>
                  <a:ext uri="{0D108BD9-81ED-4DB2-BD59-A6C34878D82A}">
                    <a16:rowId xmlns:a16="http://schemas.microsoft.com/office/drawing/2014/main" val="951856218"/>
                  </a:ext>
                </a:extLst>
              </a:tr>
            </a:tbl>
          </a:graphicData>
        </a:graphic>
      </p:graphicFrame>
    </p:spTree>
    <p:extLst>
      <p:ext uri="{BB962C8B-B14F-4D97-AF65-F5344CB8AC3E}">
        <p14:creationId xmlns:p14="http://schemas.microsoft.com/office/powerpoint/2010/main" val="2429665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0948E728-304F-7962-EB7B-B5D818D9B9C9}"/>
              </a:ext>
            </a:extLst>
          </p:cNvPr>
          <p:cNvGraphicFramePr/>
          <p:nvPr>
            <p:extLst>
              <p:ext uri="{D42A27DB-BD31-4B8C-83A1-F6EECF244321}">
                <p14:modId xmlns:p14="http://schemas.microsoft.com/office/powerpoint/2010/main" val="1297771582"/>
              </p:ext>
            </p:extLst>
          </p:nvPr>
        </p:nvGraphicFramePr>
        <p:xfrm>
          <a:off x="1097280" y="286603"/>
          <a:ext cx="10058400" cy="14507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9EB79A49-C0F3-C060-01D4-1EFEDF1F98EE}"/>
              </a:ext>
            </a:extLst>
          </p:cNvPr>
          <p:cNvSpPr>
            <a:spLocks noGrp="1"/>
          </p:cNvSpPr>
          <p:nvPr>
            <p:ph idx="1"/>
          </p:nvPr>
        </p:nvSpPr>
        <p:spPr>
          <a:xfrm>
            <a:off x="1097280" y="1845734"/>
            <a:ext cx="4697030" cy="4023360"/>
          </a:xfrm>
        </p:spPr>
        <p:txBody>
          <a:bodyPr>
            <a:normAutofit/>
          </a:bodyPr>
          <a:lstStyle/>
          <a:p>
            <a:pPr algn="ctr"/>
            <a:r>
              <a:rPr lang="en-GB" sz="2200" b="1" dirty="0"/>
              <a:t>IRCTC</a:t>
            </a:r>
          </a:p>
          <a:p>
            <a:endParaRPr lang="en-GB" dirty="0"/>
          </a:p>
          <a:p>
            <a:pPr algn="just"/>
            <a:r>
              <a:rPr lang="en-GB" dirty="0"/>
              <a:t>IRCTC is India’s largest online rail ticketing platform, processing millions of concurrent users during peak booking windows. IRCTC depends on </a:t>
            </a:r>
            <a:r>
              <a:rPr lang="en-GB" dirty="0" err="1"/>
              <a:t>Angular’s</a:t>
            </a:r>
            <a:r>
              <a:rPr lang="en-GB" dirty="0"/>
              <a:t> robust architecture to handle high-traffic without UI </a:t>
            </a:r>
            <a:r>
              <a:rPr lang="en-GB" dirty="0" err="1"/>
              <a:t>degradationscenarios</a:t>
            </a:r>
            <a:r>
              <a:rPr lang="en-GB" dirty="0"/>
              <a:t>, particularly during tatkal booking periods where server and client load spikes simultaneously. For a platform at this transaction volume, framework stability is non-negotiable.</a:t>
            </a:r>
            <a:endParaRPr lang="en-IN" dirty="0"/>
          </a:p>
        </p:txBody>
      </p:sp>
      <p:sp>
        <p:nvSpPr>
          <p:cNvPr id="5" name="TextBox 4">
            <a:extLst>
              <a:ext uri="{FF2B5EF4-FFF2-40B4-BE49-F238E27FC236}">
                <a16:creationId xmlns:a16="http://schemas.microsoft.com/office/drawing/2014/main" id="{5AFCB4CD-B0F6-5994-BEC7-727046AD72F2}"/>
              </a:ext>
            </a:extLst>
          </p:cNvPr>
          <p:cNvSpPr txBox="1"/>
          <p:nvPr/>
        </p:nvSpPr>
        <p:spPr>
          <a:xfrm>
            <a:off x="6279502" y="1845734"/>
            <a:ext cx="4876178" cy="4524315"/>
          </a:xfrm>
          <a:prstGeom prst="rect">
            <a:avLst/>
          </a:prstGeom>
          <a:noFill/>
        </p:spPr>
        <p:txBody>
          <a:bodyPr wrap="square" rtlCol="0">
            <a:spAutoFit/>
          </a:bodyPr>
          <a:lstStyle/>
          <a:p>
            <a:pPr algn="ctr"/>
            <a:r>
              <a:rPr lang="en-IN" b="1" dirty="0"/>
              <a:t>Gemini by Google</a:t>
            </a:r>
          </a:p>
          <a:p>
            <a:endParaRPr lang="en-IN" dirty="0"/>
          </a:p>
          <a:p>
            <a:pPr algn="ctr"/>
            <a:endParaRPr lang="en-IN" dirty="0"/>
          </a:p>
          <a:p>
            <a:pPr algn="just"/>
            <a:r>
              <a:rPr lang="en-GB" dirty="0"/>
              <a:t>Gemini is Google’s flagship conversational AI product, positioned as a direct competitor to ChatGPT in the enterprise and consumer AI space. Gemini’s web interface is built on Angular, which handles the real-time streaming response UI and session state management that conversational AI products require. Given Google’s internal expertise with the framework, this choice reflects deliberate architectural alignment rather than convenience.</a:t>
            </a:r>
            <a:endParaRPr lang="en-IN" dirty="0"/>
          </a:p>
          <a:p>
            <a:endParaRPr lang="en-IN" b="1" dirty="0"/>
          </a:p>
          <a:p>
            <a:endParaRPr lang="en-IN" b="1" dirty="0"/>
          </a:p>
          <a:p>
            <a:endParaRPr lang="en-IN" dirty="0"/>
          </a:p>
        </p:txBody>
      </p:sp>
      <p:pic>
        <p:nvPicPr>
          <p:cNvPr id="1028" name="Picture 4">
            <a:extLst>
              <a:ext uri="{FF2B5EF4-FFF2-40B4-BE49-F238E27FC236}">
                <a16:creationId xmlns:a16="http://schemas.microsoft.com/office/drawing/2014/main" id="{928DF062-E644-6896-4427-F785668B3DF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83669" y="2106991"/>
            <a:ext cx="438993" cy="54433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A9D1AC42-1ADA-098B-AACD-0023B6F08D4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262118" y="2052608"/>
            <a:ext cx="598715" cy="598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921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E6848614-D0F6-6EB0-9C88-315C78E96924}"/>
              </a:ext>
            </a:extLst>
          </p:cNvPr>
          <p:cNvGraphicFramePr/>
          <p:nvPr>
            <p:extLst>
              <p:ext uri="{D42A27DB-BD31-4B8C-83A1-F6EECF244321}">
                <p14:modId xmlns:p14="http://schemas.microsoft.com/office/powerpoint/2010/main" val="4195933574"/>
              </p:ext>
            </p:extLst>
          </p:nvPr>
        </p:nvGraphicFramePr>
        <p:xfrm>
          <a:off x="1097280" y="286603"/>
          <a:ext cx="10058400" cy="14507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72D4C9F3-63A5-7972-B96D-0FDA2D3E5195}"/>
              </a:ext>
            </a:extLst>
          </p:cNvPr>
          <p:cNvSpPr>
            <a:spLocks noGrp="1"/>
          </p:cNvSpPr>
          <p:nvPr>
            <p:ph idx="1"/>
          </p:nvPr>
        </p:nvSpPr>
        <p:spPr/>
        <p:txBody>
          <a:bodyPr>
            <a:normAutofit/>
          </a:bodyPr>
          <a:lstStyle/>
          <a:p>
            <a:r>
              <a:rPr lang="en-IN" b="1" dirty="0"/>
              <a:t>What is AngularJS?</a:t>
            </a:r>
          </a:p>
          <a:p>
            <a:r>
              <a:rPr lang="en-IN" dirty="0"/>
              <a:t>AngularJS is an open-source, JavaScript-based front-end framework developed by Google to build dynamic single-page web applications (SPAs).</a:t>
            </a:r>
          </a:p>
          <a:p>
            <a:endParaRPr lang="en-IN" dirty="0"/>
          </a:p>
          <a:p>
            <a:r>
              <a:rPr lang="en-IN" b="1" dirty="0"/>
              <a:t>Framework vs. Library</a:t>
            </a:r>
          </a:p>
          <a:p>
            <a:r>
              <a:rPr lang="en-IN" dirty="0"/>
              <a:t>A library is a collection of functions you call when you need them (you control the flow), whereas a framework provides a rigid architecture and calls your code (the framework controls the flow).</a:t>
            </a:r>
          </a:p>
          <a:p>
            <a:endParaRPr lang="en-IN" dirty="0"/>
          </a:p>
        </p:txBody>
      </p:sp>
    </p:spTree>
    <p:extLst>
      <p:ext uri="{BB962C8B-B14F-4D97-AF65-F5344CB8AC3E}">
        <p14:creationId xmlns:p14="http://schemas.microsoft.com/office/powerpoint/2010/main" val="1653967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5D78DAC-2F28-7BA6-CA58-0D895A78434D}"/>
              </a:ext>
            </a:extLst>
          </p:cNvPr>
          <p:cNvGraphicFramePr/>
          <p:nvPr/>
        </p:nvGraphicFramePr>
        <p:xfrm>
          <a:off x="1097280" y="0"/>
          <a:ext cx="10058400" cy="14507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531C2A5F-7072-CC69-F992-C5153A4D19ED}"/>
              </a:ext>
            </a:extLst>
          </p:cNvPr>
          <p:cNvSpPr>
            <a:spLocks noGrp="1"/>
          </p:cNvSpPr>
          <p:nvPr>
            <p:ph idx="1"/>
          </p:nvPr>
        </p:nvSpPr>
        <p:spPr/>
        <p:txBody>
          <a:bodyPr>
            <a:normAutofit lnSpcReduction="10000"/>
          </a:bodyPr>
          <a:lstStyle/>
          <a:p>
            <a:r>
              <a:rPr lang="en-IN" b="1" dirty="0"/>
              <a:t>Client-Side Rendering (CSR) vs. Server-Side Rendering (SSR)</a:t>
            </a:r>
          </a:p>
          <a:p>
            <a:r>
              <a:rPr lang="en-IN" dirty="0"/>
              <a:t>CSR uses JavaScript to render the webpage directly in the user's browser (slower initial load, faster navigation), while SSR fully renders the HTML on the server before sending it to the browser (faster initial load, better SEO).</a:t>
            </a:r>
          </a:p>
          <a:p>
            <a:endParaRPr lang="en-IN" dirty="0"/>
          </a:p>
          <a:p>
            <a:r>
              <a:rPr lang="en-IN" b="1" dirty="0"/>
              <a:t>List out Popular Client-Side Frameworks</a:t>
            </a:r>
          </a:p>
          <a:p>
            <a:r>
              <a:rPr lang="en-IN" dirty="0"/>
              <a:t>Angular</a:t>
            </a:r>
          </a:p>
          <a:p>
            <a:r>
              <a:rPr lang="en-IN" dirty="0"/>
              <a:t>Vue.js</a:t>
            </a:r>
          </a:p>
          <a:p>
            <a:r>
              <a:rPr lang="en-IN" dirty="0"/>
              <a:t>Bootstrap</a:t>
            </a:r>
          </a:p>
          <a:p>
            <a:r>
              <a:rPr lang="en-IN" dirty="0"/>
              <a:t>React </a:t>
            </a:r>
            <a:r>
              <a:rPr lang="en-IN" dirty="0" err="1"/>
              <a:t>js</a:t>
            </a:r>
            <a:r>
              <a:rPr lang="en-IN" dirty="0"/>
              <a:t> </a:t>
            </a:r>
          </a:p>
          <a:p>
            <a:endParaRPr lang="en-IN" dirty="0"/>
          </a:p>
        </p:txBody>
      </p:sp>
    </p:spTree>
    <p:extLst>
      <p:ext uri="{BB962C8B-B14F-4D97-AF65-F5344CB8AC3E}">
        <p14:creationId xmlns:p14="http://schemas.microsoft.com/office/powerpoint/2010/main" val="413409762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office theme</Template>
  <TotalTime>111</TotalTime>
  <Words>637</Words>
  <Application>Microsoft Office PowerPoint</Application>
  <PresentationFormat>Widescreen</PresentationFormat>
  <Paragraphs>98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Retrospect</vt:lpstr>
      <vt:lpstr>ANGULAR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Raj kumar</cp:lastModifiedBy>
  <cp:revision>48</cp:revision>
  <dcterms:created xsi:type="dcterms:W3CDTF">2026-05-28T09:27:23Z</dcterms:created>
  <dcterms:modified xsi:type="dcterms:W3CDTF">2026-06-03T17:22:32Z</dcterms:modified>
</cp:coreProperties>
</file>